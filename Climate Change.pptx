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7"/>
  </p:notesMasterIdLst>
  <p:handoutMasterIdLst>
    <p:handoutMasterId r:id="rId8"/>
  </p:handoutMasterIdLst>
  <p:sldIdLst>
    <p:sldId id="256" r:id="rId2"/>
    <p:sldId id="260" r:id="rId3"/>
    <p:sldId id="257" r:id="rId4"/>
    <p:sldId id="261" r:id="rId5"/>
    <p:sldId id="262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007EE1D-8DD8-4B52-B65A-AA9BE848AAC1}">
          <p14:sldIdLst>
            <p14:sldId id="256"/>
            <p14:sldId id="260"/>
            <p14:sldId id="257"/>
            <p14:sldId id="261"/>
            <p14:sldId id="262"/>
          </p14:sldIdLst>
        </p14:section>
        <p14:section name="Untitled Section" id="{9BB6D5A4-9A4A-4918-AF85-83A2057BCFE6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4" d="100"/>
          <a:sy n="94" d="100"/>
        </p:scale>
        <p:origin x="-1114" y="670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rate©</c:v>
                </c:pt>
              </c:strCache>
            </c:strRef>
          </c:tx>
          <c:cat>
            <c:numRef>
              <c:f>Sheet1!$A$2:$A$7</c:f>
              <c:numCache>
                <c:formatCode>General</c:formatCode>
                <c:ptCount val="6"/>
                <c:pt idx="0">
                  <c:v>1959</c:v>
                </c:pt>
                <c:pt idx="1">
                  <c:v>1960</c:v>
                </c:pt>
                <c:pt idx="2">
                  <c:v>1970</c:v>
                </c:pt>
                <c:pt idx="3">
                  <c:v>1980</c:v>
                </c:pt>
                <c:pt idx="4">
                  <c:v>1990</c:v>
                </c:pt>
                <c:pt idx="5">
                  <c:v>2000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1.3</c:v>
                </c:pt>
                <c:pt idx="2">
                  <c:v>3.5</c:v>
                </c:pt>
                <c:pt idx="3">
                  <c:v>4.5</c:v>
                </c:pt>
                <c:pt idx="4">
                  <c:v>3.5</c:v>
                </c:pt>
                <c:pt idx="5">
                  <c:v>2.5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cat>
            <c:numRef>
              <c:f>Sheet1!$A$2:$A$7</c:f>
              <c:numCache>
                <c:formatCode>General</c:formatCode>
                <c:ptCount val="6"/>
                <c:pt idx="0">
                  <c:v>1959</c:v>
                </c:pt>
                <c:pt idx="1">
                  <c:v>1960</c:v>
                </c:pt>
                <c:pt idx="2">
                  <c:v>1970</c:v>
                </c:pt>
                <c:pt idx="3">
                  <c:v>1980</c:v>
                </c:pt>
                <c:pt idx="4">
                  <c:v>1990</c:v>
                </c:pt>
                <c:pt idx="5">
                  <c:v>2000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cat>
            <c:numRef>
              <c:f>Sheet1!$A$2:$A$7</c:f>
              <c:numCache>
                <c:formatCode>General</c:formatCode>
                <c:ptCount val="6"/>
                <c:pt idx="0">
                  <c:v>1959</c:v>
                </c:pt>
                <c:pt idx="1">
                  <c:v>1960</c:v>
                </c:pt>
                <c:pt idx="2">
                  <c:v>1970</c:v>
                </c:pt>
                <c:pt idx="3">
                  <c:v>1980</c:v>
                </c:pt>
                <c:pt idx="4">
                  <c:v>1990</c:v>
                </c:pt>
                <c:pt idx="5">
                  <c:v>2000</c:v>
                </c:pt>
              </c:numCache>
            </c:numRef>
          </c:cat>
          <c:val>
            <c:numRef>
              <c:f>Sheet1!$D$2:$D$7</c:f>
              <c:numCache>
                <c:formatCode>General</c:formatCode>
                <c:ptCount val="6"/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3638144"/>
        <c:axId val="123640832"/>
      </c:lineChart>
      <c:catAx>
        <c:axId val="1236381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23640832"/>
        <c:crosses val="autoZero"/>
        <c:auto val="1"/>
        <c:lblAlgn val="ctr"/>
        <c:lblOffset val="100"/>
        <c:noMultiLvlLbl val="0"/>
      </c:catAx>
      <c:valAx>
        <c:axId val="12364083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23638144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6164A1-9094-48F3-B514-4C4D7D8E3E22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82369-F28F-4ECE-A963-0C9A2C391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079802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AB947-C1AC-4334-8863-F2CD809F0301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C69136-EA4D-40C0-896E-FB08923D6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879164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C69136-EA4D-40C0-896E-FB08923D62E4}" type="slidenum">
              <a:rPr lang="en-US" smtClean="0"/>
              <a:t>1</a:t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409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C69136-EA4D-40C0-896E-FB08923D62E4}" type="slidenum">
              <a:rPr lang="en-US" smtClean="0"/>
              <a:t>5</a:t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079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1/29/2025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E18EF4-163A-465B-9786-1213057AF8A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1/29/2025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18EF4-163A-465B-9786-1213057AF8A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1/29/2025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18EF4-163A-465B-9786-1213057AF8A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1/29/2025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18EF4-163A-465B-9786-1213057AF8A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1/29/2025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18EF4-163A-465B-9786-1213057AF8A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1/29/2025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18EF4-163A-465B-9786-1213057AF8A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1/29/2025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18EF4-163A-465B-9786-1213057AF8A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1/29/2025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18EF4-163A-465B-9786-1213057AF8A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1/29/2025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18EF4-163A-465B-9786-1213057AF8A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1/29/2025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18EF4-163A-465B-9786-1213057AF8A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1/29/2025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18EF4-163A-465B-9786-1213057AF8A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r>
              <a:rPr lang="en-US" smtClean="0"/>
              <a:t>1/29/2025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47E18EF4-163A-465B-9786-1213057AF8A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hdr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Climate Change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Effect of Climate Change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1/29/2025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/>
              <a:t>01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E18EF4-163A-465B-9786-1213057AF8A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32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solidFill>
                  <a:srgbClr val="FFC000"/>
                </a:solidFill>
              </a:rPr>
              <a:t>Effect of Climate Change</a:t>
            </a:r>
            <a:endParaRPr lang="en-US" sz="2000" dirty="0">
              <a:solidFill>
                <a:srgbClr val="FFC0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Harmful Effect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Potential Effect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495999978"/>
              </p:ext>
            </p:extLst>
          </p:nvPr>
        </p:nvGraphicFramePr>
        <p:xfrm>
          <a:off x="457200" y="2212975"/>
          <a:ext cx="404177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530"/>
                <a:gridCol w="3203245"/>
              </a:tblGrid>
              <a:tr h="64008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01</a:t>
                      </a:r>
                    </a:p>
                    <a:p>
                      <a:endParaRPr lang="en-US" sz="1800" dirty="0"/>
                    </a:p>
                  </a:txBody>
                  <a:tcPr marL="91476" marR="91476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Rising</a:t>
                      </a:r>
                      <a:r>
                        <a:rPr lang="en-US" sz="1800" baseline="0" dirty="0" smtClean="0"/>
                        <a:t> Sea Levels</a:t>
                      </a:r>
                      <a:endParaRPr lang="en-US" sz="1800" dirty="0"/>
                    </a:p>
                  </a:txBody>
                  <a:tcPr marL="91476" marR="91476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02</a:t>
                      </a:r>
                      <a:endParaRPr lang="en-US" sz="1800" dirty="0"/>
                    </a:p>
                  </a:txBody>
                  <a:tcPr marL="91476" marR="91476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Extreme Weather Events</a:t>
                      </a:r>
                      <a:endParaRPr lang="en-US" sz="1800" dirty="0"/>
                    </a:p>
                  </a:txBody>
                  <a:tcPr marL="91476" marR="91476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03</a:t>
                      </a:r>
                      <a:endParaRPr lang="en-US" sz="1800" dirty="0"/>
                    </a:p>
                  </a:txBody>
                  <a:tcPr marL="91476" marR="91476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Loss</a:t>
                      </a:r>
                      <a:r>
                        <a:rPr lang="en-US" sz="1800" baseline="0" dirty="0" smtClean="0"/>
                        <a:t> of Biodiversity</a:t>
                      </a:r>
                      <a:endParaRPr lang="en-US" sz="1800" dirty="0"/>
                    </a:p>
                  </a:txBody>
                  <a:tcPr marL="91476" marR="91476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04</a:t>
                      </a:r>
                      <a:endParaRPr lang="en-US" sz="1800" dirty="0"/>
                    </a:p>
                  </a:txBody>
                  <a:tcPr marL="91476" marR="91476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Heart</a:t>
                      </a:r>
                      <a:r>
                        <a:rPr lang="en-US" sz="1800" baseline="0" dirty="0" smtClean="0"/>
                        <a:t> Risk</a:t>
                      </a:r>
                      <a:endParaRPr lang="en-US" sz="1800" dirty="0"/>
                    </a:p>
                  </a:txBody>
                  <a:tcPr marL="91476" marR="91476"/>
                </a:tc>
              </a:tr>
            </a:tbl>
          </a:graphicData>
        </a:graphic>
      </p:graphicFrame>
      <p:graphicFrame>
        <p:nvGraphicFramePr>
          <p:cNvPr id="8" name="Content Placeholder 7"/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79742543"/>
              </p:ext>
            </p:extLst>
          </p:nvPr>
        </p:nvGraphicFramePr>
        <p:xfrm>
          <a:off x="4672013" y="2212975"/>
          <a:ext cx="4041776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8975"/>
                <a:gridCol w="3352801"/>
              </a:tblGrid>
              <a:tr h="91440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01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Longer  Growing season in some regions</a:t>
                      </a:r>
                      <a:endParaRPr 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02</a:t>
                      </a:r>
                      <a:endParaRPr lang="en-US" sz="18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800" dirty="0" smtClean="0"/>
                        <a:t>Access to</a:t>
                      </a:r>
                      <a:r>
                        <a:rPr lang="en-US" sz="1800" baseline="0" dirty="0" smtClean="0"/>
                        <a:t> natural resources in Arctic Areas</a:t>
                      </a:r>
                      <a:endParaRPr lang="en-US" sz="1800" dirty="0"/>
                    </a:p>
                  </a:txBody>
                  <a:tcPr/>
                </a:tc>
              </a:tr>
              <a:tr h="741680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26" name="Picture 2" descr="https://assets.science.nasa.gov/dynamicimage/assets/science/esd/climate/internal_resources/2639/global_warming_2022.jpeg?w=1280&amp;h=716&amp;fit=clip&amp;crop=faces%2Cfocalpoi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399" y="4953000"/>
            <a:ext cx="5867401" cy="1798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1/29/2025</a:t>
            </a:r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02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18EF4-163A-465B-9786-1213057AF8A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835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What is Climate Change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 err="1" smtClean="0"/>
              <a:t>Ans:</a:t>
            </a:r>
            <a:r>
              <a:rPr lang="en-US" dirty="0" err="1"/>
              <a:t>Climate</a:t>
            </a:r>
            <a:r>
              <a:rPr lang="en-US" dirty="0"/>
              <a:t> change is a long-term change in the average weather patterns that have come to define Earth’s local, regional and global climates. These changes have a broad range of observed effects that are synonymous with the term.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1/29/2025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/>
              <a:t>03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E18EF4-163A-465B-9786-1213057AF8A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670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</a:rPr>
              <a:t>Climate Change Rate from 1950 to 2020</a:t>
            </a:r>
            <a:endParaRPr lang="en-US" sz="2000" b="1" dirty="0">
              <a:solidFill>
                <a:schemeClr val="tx1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4129918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1/29/2025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04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18EF4-163A-465B-9786-1213057AF8A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271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Environmental effects</a:t>
            </a: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752600"/>
            <a:ext cx="25908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774850"/>
            <a:ext cx="3657600" cy="1600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962400"/>
            <a:ext cx="27432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760" y="3733800"/>
            <a:ext cx="304800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1/29/2025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18EF4-163A-465B-9786-1213057AF8A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30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101</TotalTime>
  <Words>114</Words>
  <Application>Microsoft Office PowerPoint</Application>
  <PresentationFormat>On-screen Show (4:3)</PresentationFormat>
  <Paragraphs>66</Paragraphs>
  <Slides>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Executive</vt:lpstr>
      <vt:lpstr>Climate Change</vt:lpstr>
      <vt:lpstr>Effect of Climate Change</vt:lpstr>
      <vt:lpstr>What is Climate Change</vt:lpstr>
      <vt:lpstr>Climate Change Rate from 1950 to 2020</vt:lpstr>
      <vt:lpstr>Environmental effects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9</cp:revision>
  <dcterms:created xsi:type="dcterms:W3CDTF">2025-01-29T14:57:41Z</dcterms:created>
  <dcterms:modified xsi:type="dcterms:W3CDTF">2025-01-29T16:38:52Z</dcterms:modified>
</cp:coreProperties>
</file>